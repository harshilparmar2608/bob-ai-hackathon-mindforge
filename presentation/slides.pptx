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Instrument Sans Bold" panose="020B0604020202020204" charset="0"/>
      <p:regular r:id="rId11"/>
    </p:embeddedFont>
    <p:embeddedFont>
      <p:font typeface="Instrument Sans Medium" panose="020B0604020202020204" charset="0"/>
      <p:regular r:id="rId12"/>
    </p:embeddedFont>
    <p:embeddedFont>
      <p:font typeface="Instrument Sans SemiBold" panose="020B060402020202020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973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png"/><Relationship Id="rId18" Type="http://schemas.openxmlformats.org/officeDocument/2006/relationships/image" Target="../media/image2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sv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svg"/><Relationship Id="rId19" Type="http://schemas.openxmlformats.org/officeDocument/2006/relationships/image" Target="../media/image11.png"/><Relationship Id="rId4" Type="http://schemas.openxmlformats.org/officeDocument/2006/relationships/image" Target="../media/image13.svg"/><Relationship Id="rId9" Type="http://schemas.openxmlformats.org/officeDocument/2006/relationships/image" Target="../media/image18.png"/><Relationship Id="rId14" Type="http://schemas.openxmlformats.org/officeDocument/2006/relationships/image" Target="../media/image2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3" Type="http://schemas.openxmlformats.org/officeDocument/2006/relationships/image" Target="../media/image34.pn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eg"/><Relationship Id="rId5" Type="http://schemas.openxmlformats.org/officeDocument/2006/relationships/image" Target="../media/image36.jpeg"/><Relationship Id="rId4" Type="http://schemas.openxmlformats.org/officeDocument/2006/relationships/image" Target="../media/image35.jpeg"/><Relationship Id="rId9" Type="http://schemas.openxmlformats.org/officeDocument/2006/relationships/image" Target="../media/image40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eg"/><Relationship Id="rId7" Type="http://schemas.openxmlformats.org/officeDocument/2006/relationships/image" Target="../media/image45.sv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svg"/><Relationship Id="rId5" Type="http://schemas.openxmlformats.org/officeDocument/2006/relationships/image" Target="../media/image43.sv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jpeg"/><Relationship Id="rId7" Type="http://schemas.openxmlformats.org/officeDocument/2006/relationships/image" Target="../media/image5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59.svg"/><Relationship Id="rId5" Type="http://schemas.openxmlformats.org/officeDocument/2006/relationships/image" Target="../media/image53.sv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EEE2E89-7735-9000-2CBA-3096777CB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1405930"/>
            <a:ext cx="2917256" cy="287139"/>
          </a:xfrm>
          <a:prstGeom prst="roundRect">
            <a:avLst>
              <a:gd name="adj" fmla="val 47396"/>
            </a:avLst>
          </a:prstGeom>
          <a:solidFill>
            <a:srgbClr val="CEE6FD"/>
          </a:solidFill>
          <a:ln/>
        </p:spPr>
      </p:sp>
      <p:sp>
        <p:nvSpPr>
          <p:cNvPr id="4" name="Text 1"/>
          <p:cNvSpPr/>
          <p:nvPr/>
        </p:nvSpPr>
        <p:spPr>
          <a:xfrm>
            <a:off x="774879" y="1462584"/>
            <a:ext cx="330003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BOB AI HACKATHON 2026 · TRACK: AI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61475" y="1768673"/>
            <a:ext cx="6296860" cy="815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CampusPilot</a:t>
            </a:r>
            <a:endParaRPr lang="en-US" sz="5100" dirty="0"/>
          </a:p>
        </p:txBody>
      </p:sp>
      <p:sp>
        <p:nvSpPr>
          <p:cNvPr id="6" name="Text 3"/>
          <p:cNvSpPr/>
          <p:nvPr/>
        </p:nvSpPr>
        <p:spPr>
          <a:xfrm>
            <a:off x="661475" y="2867323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AI-Powered Student Success Platform</a:t>
            </a:r>
            <a:endParaRPr lang="en-US" sz="3700" dirty="0"/>
          </a:p>
        </p:txBody>
      </p:sp>
      <p:sp>
        <p:nvSpPr>
          <p:cNvPr id="7" name="Text 4"/>
          <p:cNvSpPr/>
          <p:nvPr/>
        </p:nvSpPr>
        <p:spPr>
          <a:xfrm>
            <a:off x="661475" y="4332089"/>
            <a:ext cx="6296860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i="1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One Dashboard. One AI. Every Student's Success.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Team MindForge — Harshil Parmar · Aarnav Patel · Krishna Gajara · Hevin Jajadiya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1210" y="0"/>
                </a:lnTo>
                <a:lnTo>
                  <a:pt x="92090" y="2640"/>
                </a:lnTo>
                <a:lnTo>
                  <a:pt x="93070" y="7030"/>
                </a:lnTo>
                <a:lnTo>
                  <a:pt x="93650" y="11330"/>
                </a:lnTo>
                <a:lnTo>
                  <a:pt x="93850" y="14750"/>
                </a:lnTo>
                <a:lnTo>
                  <a:pt x="93460" y="21970"/>
                </a:lnTo>
                <a:lnTo>
                  <a:pt x="91990" y="31150"/>
                </a:lnTo>
                <a:lnTo>
                  <a:pt x="91410" y="36520"/>
                </a:lnTo>
                <a:lnTo>
                  <a:pt x="91210" y="40040"/>
                </a:lnTo>
                <a:lnTo>
                  <a:pt x="91310" y="45700"/>
                </a:lnTo>
                <a:lnTo>
                  <a:pt x="91890" y="48930"/>
                </a:lnTo>
                <a:lnTo>
                  <a:pt x="93160" y="52540"/>
                </a:lnTo>
                <a:lnTo>
                  <a:pt x="94920" y="56050"/>
                </a:lnTo>
                <a:lnTo>
                  <a:pt x="97170" y="59860"/>
                </a:lnTo>
                <a:lnTo>
                  <a:pt x="98730" y="63280"/>
                </a:lnTo>
                <a:lnTo>
                  <a:pt x="99800" y="67290"/>
                </a:lnTo>
                <a:lnTo>
                  <a:pt x="100000" y="71480"/>
                </a:lnTo>
                <a:lnTo>
                  <a:pt x="99710" y="73630"/>
                </a:lnTo>
                <a:lnTo>
                  <a:pt x="99020" y="76460"/>
                </a:lnTo>
                <a:lnTo>
                  <a:pt x="97750" y="80180"/>
                </a:lnTo>
                <a:lnTo>
                  <a:pt x="96390" y="83400"/>
                </a:lnTo>
                <a:lnTo>
                  <a:pt x="91890" y="91990"/>
                </a:lnTo>
                <a:lnTo>
                  <a:pt x="89450" y="96000"/>
                </a:lnTo>
                <a:lnTo>
                  <a:pt x="8672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62583"/>
            <a:ext cx="6296860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The Problem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5233360" y="1127720"/>
            <a:ext cx="6296860" cy="296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juggle </a:t>
            </a:r>
            <a:r>
              <a:rPr lang="en-US" sz="90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6+ disconnected platforms</a:t>
            </a: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daily — Gmail, Classroom, WhatsApp, Calendar, Notes, and Placement Portals — losing hours to coordination instead of learning.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233360" y="1503065"/>
            <a:ext cx="6296860" cy="1016000"/>
          </a:xfrm>
          <a:prstGeom prst="roundRect">
            <a:avLst>
              <a:gd name="adj" fmla="val 10203"/>
            </a:avLst>
          </a:prstGeom>
          <a:solidFill>
            <a:srgbClr val="CEE6FD"/>
          </a:solidFill>
          <a:ln/>
        </p:spPr>
      </p:sp>
      <p:sp>
        <p:nvSpPr>
          <p:cNvPr id="6" name="Shape 3"/>
          <p:cNvSpPr/>
          <p:nvPr/>
        </p:nvSpPr>
        <p:spPr>
          <a:xfrm>
            <a:off x="5348451" y="1618159"/>
            <a:ext cx="345471" cy="345480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43401" y="1713111"/>
            <a:ext cx="155472" cy="1554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48451" y="2033786"/>
            <a:ext cx="6066678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Missed Deadlines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348451" y="2255738"/>
            <a:ext cx="606667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Assignments slip through the cracks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233360" y="2589213"/>
            <a:ext cx="6296860" cy="1016000"/>
          </a:xfrm>
          <a:prstGeom prst="roundRect">
            <a:avLst>
              <a:gd name="adj" fmla="val 10203"/>
            </a:avLst>
          </a:prstGeom>
          <a:solidFill>
            <a:srgbClr val="CEE6FD"/>
          </a:solidFill>
          <a:ln/>
        </p:spPr>
      </p:sp>
      <p:sp>
        <p:nvSpPr>
          <p:cNvPr id="11" name="Shape 7"/>
          <p:cNvSpPr/>
          <p:nvPr/>
        </p:nvSpPr>
        <p:spPr>
          <a:xfrm>
            <a:off x="5348451" y="2704306"/>
            <a:ext cx="345471" cy="345480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43401" y="2799259"/>
            <a:ext cx="155472" cy="1554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48451" y="3119934"/>
            <a:ext cx="6066678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Poor Attendance Tracking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348451" y="3341886"/>
            <a:ext cx="606667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 real-time visibility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233360" y="3675360"/>
            <a:ext cx="6296860" cy="1016000"/>
          </a:xfrm>
          <a:prstGeom prst="roundRect">
            <a:avLst>
              <a:gd name="adj" fmla="val 10203"/>
            </a:avLst>
          </a:prstGeom>
          <a:solidFill>
            <a:srgbClr val="CEE6FD"/>
          </a:solidFill>
          <a:ln/>
        </p:spPr>
      </p:sp>
      <p:sp>
        <p:nvSpPr>
          <p:cNvPr id="16" name="Shape 11"/>
          <p:cNvSpPr/>
          <p:nvPr/>
        </p:nvSpPr>
        <p:spPr>
          <a:xfrm>
            <a:off x="5348451" y="3790454"/>
            <a:ext cx="345471" cy="345480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43401" y="3885406"/>
            <a:ext cx="155472" cy="1554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48451" y="4206081"/>
            <a:ext cx="6066678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Scattered Materials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348451" y="4428034"/>
            <a:ext cx="606667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Notes and resources everywhere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233360" y="4761508"/>
            <a:ext cx="6296860" cy="1016000"/>
          </a:xfrm>
          <a:prstGeom prst="roundRect">
            <a:avLst>
              <a:gd name="adj" fmla="val 10203"/>
            </a:avLst>
          </a:prstGeom>
          <a:solidFill>
            <a:srgbClr val="CEE6FD"/>
          </a:solidFill>
          <a:ln/>
        </p:spPr>
      </p:sp>
      <p:sp>
        <p:nvSpPr>
          <p:cNvPr id="21" name="Shape 15"/>
          <p:cNvSpPr/>
          <p:nvPr/>
        </p:nvSpPr>
        <p:spPr>
          <a:xfrm>
            <a:off x="5348451" y="4876602"/>
            <a:ext cx="345471" cy="345480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443401" y="4971554"/>
            <a:ext cx="155472" cy="1554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8451" y="5292229"/>
            <a:ext cx="6066678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Information Overload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348451" y="5514181"/>
            <a:ext cx="606667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Hard to prioritize what matters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5233360" y="5856387"/>
            <a:ext cx="6296860" cy="339030"/>
          </a:xfrm>
          <a:prstGeom prst="roundRect">
            <a:avLst>
              <a:gd name="adj" fmla="val 30577"/>
            </a:avLst>
          </a:prstGeom>
          <a:solidFill>
            <a:srgbClr val="CEE6FD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48451" y="5956201"/>
            <a:ext cx="143963" cy="11509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607505" y="5955308"/>
            <a:ext cx="6417209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Students spend more time </a:t>
            </a:r>
            <a:r>
              <a:rPr lang="en-US" sz="900" b="1" dirty="0">
                <a:solidFill>
                  <a:srgbClr val="000000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organizing work</a:t>
            </a: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than learning — reducing productivity and placement readiness.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173"/>
            <a:ext cx="10868745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CampusPilot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661475" y="950020"/>
            <a:ext cx="1086874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Your AI Academic &amp; Career Copilot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314053"/>
            <a:ext cx="230281" cy="2302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9463" y="1353641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AI Assistant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79463" y="1603673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Context-aware academic Q&amp;A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892201"/>
            <a:ext cx="230281" cy="23028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79463" y="1931789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Personalized Dashboard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979463" y="2181820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Unified academic overview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2470348"/>
            <a:ext cx="230281" cy="23028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9463" y="2509937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Attendance Analytics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979463" y="2759968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Real-time tracking &amp; alerts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1475" y="3048496"/>
            <a:ext cx="230281" cy="23028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79463" y="3088084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Assignment Tracker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979463" y="3338116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AI-prioritized task queue</a:t>
            </a:r>
            <a:endParaRPr lang="en-US" sz="9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1475" y="3626644"/>
            <a:ext cx="230281" cy="23028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79463" y="3666232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Smart Timetable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979463" y="3916263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Auto-scheduled study blocks</a:t>
            </a:r>
            <a:endParaRPr lang="en-US" sz="9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1475" y="4204791"/>
            <a:ext cx="230281" cy="230287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79463" y="4244380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Smart Notes</a:t>
            </a:r>
            <a:endParaRPr lang="en-US" sz="1100" dirty="0"/>
          </a:p>
        </p:txBody>
      </p:sp>
      <p:sp>
        <p:nvSpPr>
          <p:cNvPr id="21" name="Text 13"/>
          <p:cNvSpPr/>
          <p:nvPr/>
        </p:nvSpPr>
        <p:spPr>
          <a:xfrm>
            <a:off x="979463" y="4494411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AI-summarized lecture notes</a:t>
            </a:r>
            <a:endParaRPr lang="en-US" sz="9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1475" y="4782939"/>
            <a:ext cx="230281" cy="230287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79463" y="4822527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Career Copilot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979463" y="5072559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Placement &amp; internship guidance</a:t>
            </a:r>
            <a:endParaRPr lang="en-US" sz="9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1475" y="5361087"/>
            <a:ext cx="230281" cy="230287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979463" y="5400675"/>
            <a:ext cx="5533291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Smart Notifications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979463" y="5650706"/>
            <a:ext cx="5533291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Timely, relevant alerts only</a:t>
            </a:r>
            <a:endParaRPr lang="en-US" sz="900" dirty="0"/>
          </a:p>
        </p:txBody>
      </p:sp>
      <p:sp>
        <p:nvSpPr>
          <p:cNvPr id="29" name="Shape 18"/>
          <p:cNvSpPr/>
          <p:nvPr/>
        </p:nvSpPr>
        <p:spPr>
          <a:xfrm>
            <a:off x="661475" y="5956697"/>
            <a:ext cx="10868745" cy="339030"/>
          </a:xfrm>
          <a:prstGeom prst="roundRect">
            <a:avLst>
              <a:gd name="adj" fmla="val 30577"/>
            </a:avLst>
          </a:prstGeom>
          <a:solidFill>
            <a:srgbClr val="CEE6FD"/>
          </a:solidFill>
          <a:ln/>
        </p:spPr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6566" y="6056511"/>
            <a:ext cx="143963" cy="115094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035619" y="6055618"/>
            <a:ext cx="10989095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Every recommendation is </a:t>
            </a:r>
            <a:r>
              <a:rPr lang="en-US" sz="900" b="1" dirty="0">
                <a:solidFill>
                  <a:srgbClr val="000000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personalized</a:t>
            </a: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using authenticated student data — no generic advice.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11056BF-B464-530E-C101-F45943B81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79034" y="1315971"/>
            <a:ext cx="6751186" cy="38490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System Architecture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1058" y="2886472"/>
            <a:ext cx="5315512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Tech Stack</a:t>
            </a:r>
            <a:endParaRPr lang="en-US" sz="9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21058" y="3095228"/>
            <a:ext cx="2632604" cy="54084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81987" y="3205361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Frontend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6381987" y="3407866"/>
            <a:ext cx="2361546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React 19 · TypeScript · Tailwind CSS · React Query</a:t>
            </a:r>
            <a:endParaRPr lang="en-US" sz="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3866" y="3095228"/>
            <a:ext cx="2632704" cy="54084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064795" y="3205361"/>
            <a:ext cx="2361645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Backend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9064795" y="3407866"/>
            <a:ext cx="2361645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FastAPI · SQLAlchemy · JWT Auth · Google OAuth</a:t>
            </a:r>
            <a:endParaRPr lang="en-US" sz="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1058" y="3686274"/>
            <a:ext cx="2632604" cy="65891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81987" y="3796407"/>
            <a:ext cx="2361546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AI Engine</a:t>
            </a:r>
            <a:endParaRPr lang="en-US" sz="950" dirty="0"/>
          </a:p>
        </p:txBody>
      </p:sp>
      <p:sp>
        <p:nvSpPr>
          <p:cNvPr id="13" name="Text 7"/>
          <p:cNvSpPr/>
          <p:nvPr/>
        </p:nvSpPr>
        <p:spPr>
          <a:xfrm>
            <a:off x="6381987" y="3998912"/>
            <a:ext cx="2361546" cy="236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IBM Granite via watsonx.ai — powering all personalized recommendations</a:t>
            </a:r>
            <a:endParaRPr lang="en-US" sz="7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03866" y="3686274"/>
            <a:ext cx="2632704" cy="65891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64795" y="3796407"/>
            <a:ext cx="2361645" cy="152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Database</a:t>
            </a:r>
            <a:endParaRPr lang="en-US" sz="950" dirty="0"/>
          </a:p>
        </p:txBody>
      </p:sp>
      <p:sp>
        <p:nvSpPr>
          <p:cNvPr id="16" name="Text 9"/>
          <p:cNvSpPr/>
          <p:nvPr/>
        </p:nvSpPr>
        <p:spPr>
          <a:xfrm>
            <a:off x="9064795" y="3998912"/>
            <a:ext cx="2361645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SQLite / PostgreSQL with SQLAlchemy ORM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Live Demo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90953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A seamless, secure student journey — from login to AI-powered insights. Every student sees </a:t>
            </a:r>
            <a:r>
              <a:rPr lang="en-US" sz="700" b="1" dirty="0">
                <a:solidFill>
                  <a:srgbClr val="1E3063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only their own academic data</a:t>
            </a:r>
            <a:r>
              <a:rPr lang="en-US" sz="7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7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97135AF-3EB9-A89A-EC57-A71957944BED}"/>
              </a:ext>
            </a:extLst>
          </p:cNvPr>
          <p:cNvGrpSpPr/>
          <p:nvPr/>
        </p:nvGrpSpPr>
        <p:grpSpPr>
          <a:xfrm>
            <a:off x="495794" y="1230808"/>
            <a:ext cx="10942832" cy="3471852"/>
            <a:chOff x="661475" y="1076027"/>
            <a:chExt cx="10868745" cy="4767759"/>
          </a:xfrm>
        </p:grpSpPr>
        <p:pic>
          <p:nvPicPr>
            <p:cNvPr id="4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1475" y="1076027"/>
              <a:ext cx="10868745" cy="4767759"/>
            </a:xfrm>
            <a:prstGeom prst="rect">
              <a:avLst/>
            </a:prstGeom>
          </p:spPr>
        </p:pic>
        <p:sp>
          <p:nvSpPr>
            <p:cNvPr id="5" name="Text 2"/>
            <p:cNvSpPr/>
            <p:nvPr/>
          </p:nvSpPr>
          <p:spPr>
            <a:xfrm>
              <a:off x="3955303" y="4685058"/>
              <a:ext cx="1642671" cy="2941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850" dirty="0">
                  <a:solidFill>
                    <a:srgbClr val="091C5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Dashboard</a:t>
              </a:r>
              <a:endParaRPr lang="en-US" sz="185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3955303" y="5062851"/>
              <a:ext cx="1642671" cy="352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 lnSpcReduction="20000"/>
            </a:bodyPr>
            <a:lstStyle/>
            <a:p>
              <a:pPr marL="0" indent="0" algn="ctr">
                <a:lnSpc>
                  <a:spcPct val="78000"/>
                </a:lnSpc>
                <a:buNone/>
              </a:pPr>
              <a:r>
                <a:rPr lang="en-US" sz="145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Personalized feed overview</a:t>
              </a:r>
              <a:endParaRPr lang="en-US" sz="145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9173680" y="4508581"/>
              <a:ext cx="1642670" cy="2941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850" dirty="0">
                  <a:solidFill>
                    <a:srgbClr val="091C5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AI Copilot</a:t>
              </a:r>
              <a:endParaRPr lang="en-US" sz="185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9173680" y="4886373"/>
              <a:ext cx="1642670" cy="5294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/>
            </a:bodyPr>
            <a:lstStyle/>
            <a:p>
              <a:pPr marL="0" indent="0" algn="ctr">
                <a:lnSpc>
                  <a:spcPct val="78000"/>
                </a:lnSpc>
                <a:buNone/>
              </a:pPr>
              <a:r>
                <a:rPr lang="en-US" sz="145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Recommendations and career guidance</a:t>
              </a:r>
              <a:endParaRPr lang="en-US" sz="145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1403632" y="1504541"/>
              <a:ext cx="1642671" cy="2941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850" dirty="0">
                  <a:solidFill>
                    <a:srgbClr val="091C5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Login</a:t>
              </a:r>
              <a:endParaRPr lang="en-US" sz="185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403632" y="1882333"/>
              <a:ext cx="1642671" cy="352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 lnSpcReduction="20000"/>
            </a:bodyPr>
            <a:lstStyle/>
            <a:p>
              <a:pPr marL="0" indent="0" algn="ctr">
                <a:lnSpc>
                  <a:spcPct val="78000"/>
                </a:lnSpc>
                <a:buNone/>
              </a:pPr>
              <a:r>
                <a:rPr lang="en-US" sz="145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Google OAuth secure access</a:t>
              </a:r>
              <a:endParaRPr lang="en-US" sz="145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6601093" y="1504541"/>
              <a:ext cx="1642670" cy="5882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85000" lnSpcReduction="20000"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850" dirty="0">
                  <a:solidFill>
                    <a:srgbClr val="091C5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Academic Actions</a:t>
              </a:r>
              <a:endParaRPr lang="en-US" sz="185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6601093" y="2176463"/>
              <a:ext cx="1642670" cy="5294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/>
            </a:bodyPr>
            <a:lstStyle/>
            <a:p>
              <a:pPr marL="0" indent="0" algn="ctr">
                <a:lnSpc>
                  <a:spcPct val="78000"/>
                </a:lnSpc>
                <a:buNone/>
              </a:pPr>
              <a:r>
                <a:rPr lang="en-US" sz="145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Attendance, assignments, notes</a:t>
              </a:r>
              <a:endParaRPr lang="en-US" sz="145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EE5893F-73FF-906B-2B1C-4B756D69C440}"/>
              </a:ext>
            </a:extLst>
          </p:cNvPr>
          <p:cNvGrpSpPr/>
          <p:nvPr/>
        </p:nvGrpSpPr>
        <p:grpSpPr>
          <a:xfrm>
            <a:off x="495794" y="4910523"/>
            <a:ext cx="10855948" cy="1746349"/>
            <a:chOff x="667825" y="5960864"/>
            <a:chExt cx="10855948" cy="1746349"/>
          </a:xfrm>
        </p:grpSpPr>
        <p:pic>
          <p:nvPicPr>
            <p:cNvPr id="13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7825" y="5960865"/>
              <a:ext cx="1746207" cy="1746250"/>
            </a:xfrm>
            <a:prstGeom prst="rect">
              <a:avLst/>
            </a:prstGeom>
          </p:spPr>
        </p:pic>
        <p:pic>
          <p:nvPicPr>
            <p:cNvPr id="14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9733" y="5960865"/>
              <a:ext cx="1746207" cy="1746250"/>
            </a:xfrm>
            <a:prstGeom prst="rect">
              <a:avLst/>
            </a:prstGeom>
          </p:spPr>
        </p:pic>
        <p:pic>
          <p:nvPicPr>
            <p:cNvPr id="15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311642" y="5960864"/>
              <a:ext cx="1746306" cy="1746349"/>
            </a:xfrm>
            <a:prstGeom prst="rect">
              <a:avLst/>
            </a:prstGeom>
          </p:spPr>
        </p:pic>
        <p:pic>
          <p:nvPicPr>
            <p:cNvPr id="16" name="Image 4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133649" y="5960865"/>
              <a:ext cx="1746207" cy="1746250"/>
            </a:xfrm>
            <a:prstGeom prst="rect">
              <a:avLst/>
            </a:prstGeom>
          </p:spPr>
        </p:pic>
        <p:pic>
          <p:nvPicPr>
            <p:cNvPr id="17" name="Image 5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55557" y="5960865"/>
              <a:ext cx="1746207" cy="1746250"/>
            </a:xfrm>
            <a:prstGeom prst="rect">
              <a:avLst/>
            </a:prstGeom>
          </p:spPr>
        </p:pic>
        <p:pic>
          <p:nvPicPr>
            <p:cNvPr id="18" name="Image 6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77467" y="5960864"/>
              <a:ext cx="1746306" cy="174634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1210" y="0"/>
                </a:lnTo>
                <a:lnTo>
                  <a:pt x="92090" y="2640"/>
                </a:lnTo>
                <a:lnTo>
                  <a:pt x="93070" y="7030"/>
                </a:lnTo>
                <a:lnTo>
                  <a:pt x="93650" y="11330"/>
                </a:lnTo>
                <a:lnTo>
                  <a:pt x="93850" y="14750"/>
                </a:lnTo>
                <a:lnTo>
                  <a:pt x="93460" y="21970"/>
                </a:lnTo>
                <a:lnTo>
                  <a:pt x="91990" y="31150"/>
                </a:lnTo>
                <a:lnTo>
                  <a:pt x="91410" y="36520"/>
                </a:lnTo>
                <a:lnTo>
                  <a:pt x="91210" y="40040"/>
                </a:lnTo>
                <a:lnTo>
                  <a:pt x="91310" y="45700"/>
                </a:lnTo>
                <a:lnTo>
                  <a:pt x="91890" y="48930"/>
                </a:lnTo>
                <a:lnTo>
                  <a:pt x="93160" y="52540"/>
                </a:lnTo>
                <a:lnTo>
                  <a:pt x="94920" y="56050"/>
                </a:lnTo>
                <a:lnTo>
                  <a:pt x="97170" y="59860"/>
                </a:lnTo>
                <a:lnTo>
                  <a:pt x="98730" y="63280"/>
                </a:lnTo>
                <a:lnTo>
                  <a:pt x="99800" y="67290"/>
                </a:lnTo>
                <a:lnTo>
                  <a:pt x="100000" y="71480"/>
                </a:lnTo>
                <a:lnTo>
                  <a:pt x="99710" y="73630"/>
                </a:lnTo>
                <a:lnTo>
                  <a:pt x="99020" y="76460"/>
                </a:lnTo>
                <a:lnTo>
                  <a:pt x="97750" y="80180"/>
                </a:lnTo>
                <a:lnTo>
                  <a:pt x="96390" y="83400"/>
                </a:lnTo>
                <a:lnTo>
                  <a:pt x="91890" y="91990"/>
                </a:lnTo>
                <a:lnTo>
                  <a:pt x="89450" y="96000"/>
                </a:lnTo>
                <a:lnTo>
                  <a:pt x="8672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3109"/>
            <a:ext cx="6296860" cy="369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IBM Technologies Used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5233360" y="981770"/>
            <a:ext cx="6296860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Powered by IBM Granite on watsonx.ai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233360" y="1277045"/>
            <a:ext cx="6296860" cy="1046758"/>
          </a:xfrm>
          <a:prstGeom prst="roundRect">
            <a:avLst>
              <a:gd name="adj" fmla="val 10157"/>
            </a:avLst>
          </a:prstGeom>
          <a:solidFill>
            <a:srgbClr val="CEE6FD"/>
          </a:solidFill>
          <a:ln/>
        </p:spPr>
      </p:sp>
      <p:sp>
        <p:nvSpPr>
          <p:cNvPr id="6" name="Shape 3"/>
          <p:cNvSpPr/>
          <p:nvPr/>
        </p:nvSpPr>
        <p:spPr>
          <a:xfrm>
            <a:off x="5351428" y="1395115"/>
            <a:ext cx="354401" cy="354409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48858" y="1492548"/>
            <a:ext cx="159441" cy="1594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51428" y="1823343"/>
            <a:ext cx="60607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Study Planning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351428" y="2052141"/>
            <a:ext cx="606072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Personalized revision schedules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233360" y="2397621"/>
            <a:ext cx="6296860" cy="1046758"/>
          </a:xfrm>
          <a:prstGeom prst="roundRect">
            <a:avLst>
              <a:gd name="adj" fmla="val 10157"/>
            </a:avLst>
          </a:prstGeom>
          <a:solidFill>
            <a:srgbClr val="CEE6FD"/>
          </a:solidFill>
          <a:ln/>
        </p:spPr>
      </p:sp>
      <p:sp>
        <p:nvSpPr>
          <p:cNvPr id="11" name="Shape 7"/>
          <p:cNvSpPr/>
          <p:nvPr/>
        </p:nvSpPr>
        <p:spPr>
          <a:xfrm>
            <a:off x="5351428" y="2515691"/>
            <a:ext cx="354401" cy="354409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48858" y="2613124"/>
            <a:ext cx="159441" cy="15944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51428" y="2943920"/>
            <a:ext cx="60607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Academic Q&amp;A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5351428" y="3172718"/>
            <a:ext cx="606072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Context-aware concept explanations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233360" y="3518198"/>
            <a:ext cx="6296860" cy="1046758"/>
          </a:xfrm>
          <a:prstGeom prst="roundRect">
            <a:avLst>
              <a:gd name="adj" fmla="val 10157"/>
            </a:avLst>
          </a:prstGeom>
          <a:solidFill>
            <a:srgbClr val="CEE6FD"/>
          </a:solidFill>
          <a:ln/>
        </p:spPr>
      </p:sp>
      <p:sp>
        <p:nvSpPr>
          <p:cNvPr id="16" name="Shape 11"/>
          <p:cNvSpPr/>
          <p:nvPr/>
        </p:nvSpPr>
        <p:spPr>
          <a:xfrm>
            <a:off x="5351428" y="3636268"/>
            <a:ext cx="354401" cy="354409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48858" y="3733701"/>
            <a:ext cx="159441" cy="15944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51428" y="4064496"/>
            <a:ext cx="60607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Assignment Prioritization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351428" y="4293295"/>
            <a:ext cx="606072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Smart task ranking by urgency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233360" y="4638774"/>
            <a:ext cx="6296860" cy="1046758"/>
          </a:xfrm>
          <a:prstGeom prst="roundRect">
            <a:avLst>
              <a:gd name="adj" fmla="val 10157"/>
            </a:avLst>
          </a:prstGeom>
          <a:solidFill>
            <a:srgbClr val="CEE6FD"/>
          </a:solidFill>
          <a:ln/>
        </p:spPr>
      </p:sp>
      <p:sp>
        <p:nvSpPr>
          <p:cNvPr id="21" name="Shape 15"/>
          <p:cNvSpPr/>
          <p:nvPr/>
        </p:nvSpPr>
        <p:spPr>
          <a:xfrm>
            <a:off x="5351428" y="4756845"/>
            <a:ext cx="354401" cy="354409"/>
          </a:xfrm>
          <a:prstGeom prst="ellipse">
            <a:avLst/>
          </a:prstGeom>
          <a:solidFill>
            <a:srgbClr val="84C1FA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448858" y="4854277"/>
            <a:ext cx="159441" cy="15944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51428" y="5185073"/>
            <a:ext cx="60607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Career Guidance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351428" y="5413871"/>
            <a:ext cx="606072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Placement &amp; internship recommendations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5233360" y="5768578"/>
            <a:ext cx="6296860" cy="506313"/>
          </a:xfrm>
          <a:prstGeom prst="roundRect">
            <a:avLst>
              <a:gd name="adj" fmla="val 20999"/>
            </a:avLst>
          </a:prstGeom>
          <a:solidFill>
            <a:srgbClr val="CEE6FD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1428" y="5876429"/>
            <a:ext cx="147634" cy="11807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617129" y="5871865"/>
            <a:ext cx="5795024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Unlike generic chatbots, CampusPilot combines </a:t>
            </a:r>
            <a:r>
              <a:rPr lang="en-US" sz="900" b="1" dirty="0">
                <a:solidFill>
                  <a:srgbClr val="000000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IBM Granite</a:t>
            </a: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with authenticated student data to deliver </a:t>
            </a:r>
            <a:r>
              <a:rPr lang="en-US" sz="900" b="1" dirty="0">
                <a:solidFill>
                  <a:srgbClr val="000000"/>
                </a:solidFill>
                <a:latin typeface="Instrument Sans Bold" pitchFamily="34" charset="0"/>
                <a:ea typeface="Instrument Sans Bold" pitchFamily="34" charset="-122"/>
                <a:cs typeface="Instrument Sans Bold" pitchFamily="34" charset="-120"/>
              </a:rPr>
              <a:t>context-aware, personalized academic assistance</a:t>
            </a:r>
            <a:r>
              <a:rPr lang="en-US" sz="900" dirty="0">
                <a:solidFill>
                  <a:srgbClr val="000000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661474" y="5495278"/>
            <a:ext cx="10868745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61474" y="5713758"/>
            <a:ext cx="5004426" cy="178300"/>
          </a:xfrm>
          <a:prstGeom prst="roundRect">
            <a:avLst>
              <a:gd name="adj" fmla="val 49999"/>
            </a:avLst>
          </a:prstGeom>
          <a:solidFill>
            <a:srgbClr val="CEE6FD"/>
          </a:solidFill>
          <a:ln/>
        </p:spPr>
      </p:sp>
      <p:sp>
        <p:nvSpPr>
          <p:cNvPr id="9" name="Text 5"/>
          <p:cNvSpPr/>
          <p:nvPr/>
        </p:nvSpPr>
        <p:spPr>
          <a:xfrm>
            <a:off x="748835" y="5921765"/>
            <a:ext cx="4829705" cy="92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Google Classroom &amp; Gmail Integration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709581" y="5713758"/>
            <a:ext cx="5004426" cy="178300"/>
          </a:xfrm>
          <a:prstGeom prst="roundRect">
            <a:avLst>
              <a:gd name="adj" fmla="val 49999"/>
            </a:avLst>
          </a:prstGeom>
          <a:solidFill>
            <a:srgbClr val="CEE6FD"/>
          </a:solidFill>
          <a:ln/>
        </p:spPr>
      </p:sp>
      <p:sp>
        <p:nvSpPr>
          <p:cNvPr id="12" name="Text 7"/>
          <p:cNvSpPr/>
          <p:nvPr/>
        </p:nvSpPr>
        <p:spPr>
          <a:xfrm>
            <a:off x="5796941" y="5921765"/>
            <a:ext cx="4829705" cy="92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ERP Integration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36575" y="6192897"/>
            <a:ext cx="5004426" cy="178300"/>
          </a:xfrm>
          <a:prstGeom prst="roundRect">
            <a:avLst>
              <a:gd name="adj" fmla="val 49999"/>
            </a:avLst>
          </a:prstGeom>
          <a:solidFill>
            <a:srgbClr val="CEE6FD"/>
          </a:solidFill>
          <a:ln/>
        </p:spPr>
      </p:sp>
      <p:sp>
        <p:nvSpPr>
          <p:cNvPr id="15" name="Text 9"/>
          <p:cNvSpPr/>
          <p:nvPr/>
        </p:nvSpPr>
        <p:spPr>
          <a:xfrm>
            <a:off x="723936" y="6400904"/>
            <a:ext cx="4829705" cy="92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709580" y="6192897"/>
            <a:ext cx="5004426" cy="178300"/>
          </a:xfrm>
          <a:prstGeom prst="roundRect">
            <a:avLst>
              <a:gd name="adj" fmla="val 49999"/>
            </a:avLst>
          </a:prstGeom>
          <a:solidFill>
            <a:srgbClr val="CEE6FD"/>
          </a:solidFill>
          <a:ln/>
        </p:spPr>
      </p:sp>
      <p:sp>
        <p:nvSpPr>
          <p:cNvPr id="18" name="Text 11"/>
          <p:cNvSpPr/>
          <p:nvPr/>
        </p:nvSpPr>
        <p:spPr>
          <a:xfrm>
            <a:off x="5796940" y="6400904"/>
            <a:ext cx="4829705" cy="92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Faculty &amp; Parent Dashboards</a:t>
            </a:r>
            <a:endParaRPr lang="en-US" sz="1100" dirty="0"/>
          </a:p>
        </p:txBody>
      </p:sp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Impact &amp; Future Scope</a:t>
            </a:r>
            <a:endParaRPr lang="en-US" sz="1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6" y="939006"/>
            <a:ext cx="4177944" cy="4178048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D43BE8C0-ACC7-D6E3-3D53-323989E03716}"/>
              </a:ext>
            </a:extLst>
          </p:cNvPr>
          <p:cNvGrpSpPr/>
          <p:nvPr/>
        </p:nvGrpSpPr>
        <p:grpSpPr>
          <a:xfrm>
            <a:off x="5503654" y="2501660"/>
            <a:ext cx="5911430" cy="927340"/>
            <a:chOff x="6217487" y="3390106"/>
            <a:chExt cx="5319083" cy="421680"/>
          </a:xfrm>
        </p:grpSpPr>
        <p:sp>
          <p:nvSpPr>
            <p:cNvPr id="4" name="Text 1"/>
            <p:cNvSpPr/>
            <p:nvPr/>
          </p:nvSpPr>
          <p:spPr>
            <a:xfrm>
              <a:off x="6217487" y="3390106"/>
              <a:ext cx="5319083" cy="14763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00" dirty="0">
                  <a:solidFill>
                    <a:srgbClr val="091C5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Who Benefits</a:t>
              </a:r>
              <a:endParaRPr lang="en-US" sz="1200" dirty="0"/>
            </a:p>
          </p:txBody>
        </p:sp>
        <p:sp>
          <p:nvSpPr>
            <p:cNvPr id="5" name="Text 2"/>
            <p:cNvSpPr/>
            <p:nvPr/>
          </p:nvSpPr>
          <p:spPr>
            <a:xfrm>
              <a:off x="6217487" y="3584972"/>
              <a:ext cx="5319083" cy="2268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20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CampusPilot creates a </a:t>
              </a:r>
              <a:r>
                <a:rPr lang="en-US" sz="1200" b="1" dirty="0">
                  <a:solidFill>
                    <a:srgbClr val="1E3063"/>
                  </a:solidFill>
                  <a:latin typeface="Instrument Sans Bold" pitchFamily="34" charset="0"/>
                  <a:ea typeface="Instrument Sans Bold" pitchFamily="34" charset="-122"/>
                  <a:cs typeface="Instrument Sans Bold" pitchFamily="34" charset="-120"/>
                </a:rPr>
                <a:t>virtuous cycle</a:t>
              </a:r>
              <a:r>
                <a:rPr lang="en-US" sz="1200" dirty="0">
                  <a:solidFill>
                    <a:srgbClr val="1E3063"/>
                  </a:solidFill>
                  <a:latin typeface="Instrument Sans Medium" pitchFamily="34" charset="0"/>
                  <a:ea typeface="Instrument Sans Medium" pitchFamily="34" charset="-122"/>
                  <a:cs typeface="Instrument Sans Medium" pitchFamily="34" charset="-120"/>
                </a:rPr>
                <a:t> — students study smarter, faculty intervene earlier, institutions make better decisions.</a:t>
              </a:r>
              <a:endParaRPr lang="en-US" sz="1200" dirty="0"/>
            </a:p>
          </p:txBody>
        </p:sp>
      </p:grp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7107" y="5751514"/>
            <a:ext cx="141681" cy="141684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55094" y="5751514"/>
            <a:ext cx="141681" cy="141684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97106" y="6209767"/>
            <a:ext cx="141681" cy="141684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55093" y="6213288"/>
            <a:ext cx="141681" cy="1416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4491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Team MindForge</a:t>
            </a:r>
            <a:endParaRPr lang="en-US" sz="35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B66483-145C-2F68-4FFC-6718D1ABC401}"/>
              </a:ext>
            </a:extLst>
          </p:cNvPr>
          <p:cNvGrpSpPr/>
          <p:nvPr/>
        </p:nvGrpSpPr>
        <p:grpSpPr>
          <a:xfrm>
            <a:off x="661475" y="4591442"/>
            <a:ext cx="10868745" cy="627589"/>
            <a:chOff x="661475" y="4741193"/>
            <a:chExt cx="10868745" cy="281485"/>
          </a:xfrm>
        </p:grpSpPr>
        <p:sp>
          <p:nvSpPr>
            <p:cNvPr id="4" name="Text 1"/>
            <p:cNvSpPr/>
            <p:nvPr/>
          </p:nvSpPr>
          <p:spPr>
            <a:xfrm>
              <a:off x="661475" y="4741194"/>
              <a:ext cx="2556208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750" dirty="0">
                  <a:solidFill>
                    <a:srgbClr val="1E306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Harshil Parmar</a:t>
              </a:r>
              <a:endParaRPr lang="en-US" sz="1750" dirty="0"/>
            </a:p>
          </p:txBody>
        </p:sp>
        <p:sp>
          <p:nvSpPr>
            <p:cNvPr id="7" name="Text 3"/>
            <p:cNvSpPr/>
            <p:nvPr/>
          </p:nvSpPr>
          <p:spPr>
            <a:xfrm>
              <a:off x="3432288" y="4741193"/>
              <a:ext cx="2556208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750" dirty="0">
                  <a:solidFill>
                    <a:srgbClr val="1E306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Aarnav Patel</a:t>
              </a:r>
              <a:endParaRPr lang="en-US" sz="1750" dirty="0"/>
            </a:p>
          </p:txBody>
        </p:sp>
        <p:sp>
          <p:nvSpPr>
            <p:cNvPr id="10" name="Text 5"/>
            <p:cNvSpPr/>
            <p:nvPr/>
          </p:nvSpPr>
          <p:spPr>
            <a:xfrm>
              <a:off x="6203100" y="4741193"/>
              <a:ext cx="2556208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750" dirty="0">
                  <a:solidFill>
                    <a:srgbClr val="1E306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Krishna Gajara</a:t>
              </a:r>
              <a:endParaRPr lang="en-US" sz="1750" dirty="0"/>
            </a:p>
          </p:txBody>
        </p:sp>
        <p:sp>
          <p:nvSpPr>
            <p:cNvPr id="13" name="Text 7"/>
            <p:cNvSpPr/>
            <p:nvPr/>
          </p:nvSpPr>
          <p:spPr>
            <a:xfrm>
              <a:off x="8973913" y="4741193"/>
              <a:ext cx="2556307" cy="28148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750" dirty="0">
                  <a:solidFill>
                    <a:srgbClr val="1E3063"/>
                  </a:solidFill>
                  <a:latin typeface="Instrument Sans SemiBold" pitchFamily="34" charset="0"/>
                  <a:ea typeface="Instrument Sans SemiBold" pitchFamily="34" charset="-122"/>
                  <a:cs typeface="Instrument Sans SemiBold" pitchFamily="34" charset="-120"/>
                </a:rPr>
                <a:t>Hevin Jajadiya</a:t>
              </a:r>
              <a:endParaRPr lang="en-US" sz="1750" dirty="0"/>
            </a:p>
          </p:txBody>
        </p:sp>
      </p:grpSp>
      <p:sp>
        <p:nvSpPr>
          <p:cNvPr id="15" name="Shape 9"/>
          <p:cNvSpPr/>
          <p:nvPr/>
        </p:nvSpPr>
        <p:spPr>
          <a:xfrm>
            <a:off x="661627" y="4216089"/>
            <a:ext cx="10868745" cy="47524"/>
          </a:xfrm>
          <a:prstGeom prst="roundRect">
            <a:avLst>
              <a:gd name="adj" fmla="val 49999"/>
            </a:avLst>
          </a:prstGeom>
          <a:solidFill>
            <a:srgbClr val="1E3063">
              <a:alpha val="50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592906" y="1987320"/>
            <a:ext cx="10868745" cy="6456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8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7" name="Text 11"/>
          <p:cNvSpPr/>
          <p:nvPr/>
        </p:nvSpPr>
        <p:spPr>
          <a:xfrm>
            <a:off x="661475" y="2926601"/>
            <a:ext cx="11478330" cy="5266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Questions? We'd love to walk you through the live demo.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61475" y="5675122"/>
            <a:ext cx="1247148" cy="273645"/>
          </a:xfrm>
          <a:prstGeom prst="roundRect">
            <a:avLst>
              <a:gd name="adj" fmla="val 47402"/>
            </a:avLst>
          </a:prstGeom>
          <a:solidFill>
            <a:srgbClr val="CEE6FD"/>
          </a:solidFill>
          <a:ln/>
        </p:spPr>
      </p:sp>
      <p:sp>
        <p:nvSpPr>
          <p:cNvPr id="19" name="Text 13"/>
          <p:cNvSpPr/>
          <p:nvPr/>
        </p:nvSpPr>
        <p:spPr>
          <a:xfrm>
            <a:off x="763080" y="5729097"/>
            <a:ext cx="1640640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CAMPUSPILOT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1998613" y="5675122"/>
            <a:ext cx="2006847" cy="273645"/>
          </a:xfrm>
          <a:prstGeom prst="roundRect">
            <a:avLst>
              <a:gd name="adj" fmla="val 47402"/>
            </a:avLst>
          </a:prstGeom>
          <a:noFill/>
          <a:ln w="6350">
            <a:solidFill>
              <a:srgbClr val="84C1FA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2100218" y="5729097"/>
            <a:ext cx="2400339" cy="165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84C1FA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BOB AI HACKATHON 2026</a:t>
            </a:r>
            <a:endParaRPr lang="en-US" sz="1100" dirty="0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E236F096-02AB-E19C-E548-F9C634D638ED}"/>
              </a:ext>
            </a:extLst>
          </p:cNvPr>
          <p:cNvSpPr/>
          <p:nvPr/>
        </p:nvSpPr>
        <p:spPr>
          <a:xfrm>
            <a:off x="592905" y="1093561"/>
            <a:ext cx="10868745" cy="47524"/>
          </a:xfrm>
          <a:prstGeom prst="roundRect">
            <a:avLst>
              <a:gd name="adj" fmla="val 49999"/>
            </a:avLst>
          </a:prstGeom>
          <a:solidFill>
            <a:srgbClr val="1E3063">
              <a:alpha val="50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400</Words>
  <Application>Microsoft Office PowerPoint</Application>
  <PresentationFormat>Widescreen</PresentationFormat>
  <Paragraphs>91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Instrument Sans Medium</vt:lpstr>
      <vt:lpstr>Instrument Sans SemiBold</vt:lpstr>
      <vt:lpstr>Arial</vt:lpstr>
      <vt:lpstr>Instrument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Aarnav Patel</cp:lastModifiedBy>
  <cp:revision>5</cp:revision>
  <dcterms:created xsi:type="dcterms:W3CDTF">2026-09-15T16:56:59Z</dcterms:created>
  <dcterms:modified xsi:type="dcterms:W3CDTF">2026-09-19T08:07:16Z</dcterms:modified>
</cp:coreProperties>
</file>